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896c2fd9be471b" /><Relationship Type="http://schemas.openxmlformats.org/officeDocument/2006/relationships/extended-properties" Target="/docProps/app.xml" Id="R5853f399bdc54535" /><Relationship Type="http://schemas.openxmlformats.org/officeDocument/2006/relationships/officeDocument" Target="/ppt/presentation.xml" Id="R58989242387f4b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b136d1092147e7"/>
  </p:sldMasterIdLst>
  <p:notesMasterIdLst>
    <p:notesMasterId xmlns:r="http://schemas.openxmlformats.org/officeDocument/2006/relationships" r:id="Rb3bfed2cbef64e0a"/>
  </p:notesMasterIdLst>
  <p:sldIdLst>
    <p:sldId xmlns:r="http://schemas.openxmlformats.org/officeDocument/2006/relationships" id="256" r:id="R972f160a361048ee"/>
    <p:sldId xmlns:r="http://schemas.openxmlformats.org/officeDocument/2006/relationships" id="257" r:id="R24a071e4111f4fb2"/>
    <p:sldId xmlns:r="http://schemas.openxmlformats.org/officeDocument/2006/relationships" id="258" r:id="R25cf8685eba54401"/>
    <p:sldId xmlns:r="http://schemas.openxmlformats.org/officeDocument/2006/relationships" id="259" r:id="Rcb8f56d53cac4c2d"/>
    <p:sldId xmlns:r="http://schemas.openxmlformats.org/officeDocument/2006/relationships" id="260" r:id="Rb85a80012ec841ac"/>
    <p:sldId xmlns:r="http://schemas.openxmlformats.org/officeDocument/2006/relationships" id="261" r:id="R39c7aa45e44e401c"/>
    <p:sldId xmlns:r="http://schemas.openxmlformats.org/officeDocument/2006/relationships" id="262" r:id="R4bf32ac1b3de4d4a"/>
    <p:sldId xmlns:r="http://schemas.openxmlformats.org/officeDocument/2006/relationships" id="263" r:id="Raddc8487dc47408c"/>
    <p:sldId xmlns:r="http://schemas.openxmlformats.org/officeDocument/2006/relationships" id="264" r:id="R70a23385cee747fb"/>
    <p:sldId xmlns:r="http://schemas.openxmlformats.org/officeDocument/2006/relationships" id="265" r:id="R233d514b70e24a86"/>
    <p:sldId xmlns:r="http://schemas.openxmlformats.org/officeDocument/2006/relationships" id="266" r:id="R4d53e58da48f44a1"/>
    <p:sldId xmlns:r="http://schemas.openxmlformats.org/officeDocument/2006/relationships" id="267" r:id="R850e5499ac874fca"/>
    <p:sldId xmlns:r="http://schemas.openxmlformats.org/officeDocument/2006/relationships" id="268" r:id="R24ba0d2ec2f745e2"/>
    <p:sldId xmlns:r="http://schemas.openxmlformats.org/officeDocument/2006/relationships" id="269" r:id="R53adba10cf1a4a35"/>
    <p:sldId xmlns:r="http://schemas.openxmlformats.org/officeDocument/2006/relationships" id="270" r:id="Rb01126743e384051"/>
    <p:sldId xmlns:r="http://schemas.openxmlformats.org/officeDocument/2006/relationships" id="271" r:id="R462e73cf560c4c3d"/>
    <p:sldId xmlns:r="http://schemas.openxmlformats.org/officeDocument/2006/relationships" id="272" r:id="R86b80076ea2e4892"/>
    <p:sldId xmlns:r="http://schemas.openxmlformats.org/officeDocument/2006/relationships" id="273" r:id="R1bf56166778d4f3f"/>
    <p:sldId xmlns:r="http://schemas.openxmlformats.org/officeDocument/2006/relationships" id="274" r:id="R7b2d6fcee5b34807"/>
    <p:sldId xmlns:r="http://schemas.openxmlformats.org/officeDocument/2006/relationships" id="275" r:id="Rcdae09fb44884662"/>
    <p:sldId xmlns:r="http://schemas.openxmlformats.org/officeDocument/2006/relationships" id="276" r:id="R1291c2e72da74e2c"/>
    <p:sldId xmlns:r="http://schemas.openxmlformats.org/officeDocument/2006/relationships" id="277" r:id="Rbf4335cb281c482d"/>
    <p:sldId xmlns:r="http://schemas.openxmlformats.org/officeDocument/2006/relationships" id="278" r:id="R39c6039c562c4f90"/>
    <p:sldId xmlns:r="http://schemas.openxmlformats.org/officeDocument/2006/relationships" id="279" r:id="R047cffeed5e64137"/>
    <p:sldId xmlns:r="http://schemas.openxmlformats.org/officeDocument/2006/relationships" id="280" r:id="R5a6e73ab7d664c85"/>
    <p:sldId xmlns:r="http://schemas.openxmlformats.org/officeDocument/2006/relationships" id="281" r:id="R6f173f8e75d64be6"/>
    <p:sldId xmlns:r="http://schemas.openxmlformats.org/officeDocument/2006/relationships" id="282" r:id="R043ef6ac36454abe"/>
    <p:sldId xmlns:r="http://schemas.openxmlformats.org/officeDocument/2006/relationships" id="283" r:id="R3feadb5842a24fd6"/>
    <p:sldId xmlns:r="http://schemas.openxmlformats.org/officeDocument/2006/relationships" id="284" r:id="Ra9436e29b68a4f8b"/>
    <p:sldId xmlns:r="http://schemas.openxmlformats.org/officeDocument/2006/relationships" id="285" r:id="R6e2f637dae3c4c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ad1943e50d446c" /><Relationship Type="http://schemas.openxmlformats.org/officeDocument/2006/relationships/slideMaster" Target="/ppt/slideMasters/slideMaster1.xml" Id="Redb136d1092147e7" /><Relationship Type="http://schemas.openxmlformats.org/officeDocument/2006/relationships/notesMaster" Target="/ppt/notesMasters/notesMaster1.xml" Id="Rb3bfed2cbef64e0a" /><Relationship Type="http://schemas.openxmlformats.org/officeDocument/2006/relationships/presProps" Target="/ppt/presProps.xml" Id="Rfed5a063cb134d5f" /><Relationship Type="http://schemas.openxmlformats.org/officeDocument/2006/relationships/tableStyles" Target="/ppt/tableStyles.xml" Id="Ra2dc356bf02040ba" /><Relationship Type="http://schemas.openxmlformats.org/officeDocument/2006/relationships/slide" Target="/ppt/slides/slide1.xml" Id="R972f160a361048ee" /><Relationship Type="http://schemas.openxmlformats.org/officeDocument/2006/relationships/slide" Target="/ppt/slides/slide2.xml" Id="R24a071e4111f4fb2" /><Relationship Type="http://schemas.openxmlformats.org/officeDocument/2006/relationships/slide" Target="/ppt/slides/slide3.xml" Id="R25cf8685eba54401" /><Relationship Type="http://schemas.openxmlformats.org/officeDocument/2006/relationships/slide" Target="/ppt/slides/slide4.xml" Id="Rcb8f56d53cac4c2d" /><Relationship Type="http://schemas.openxmlformats.org/officeDocument/2006/relationships/slide" Target="/ppt/slides/slide5.xml" Id="Rb85a80012ec841ac" /><Relationship Type="http://schemas.openxmlformats.org/officeDocument/2006/relationships/slide" Target="/ppt/slides/slide6.xml" Id="R39c7aa45e44e401c" /><Relationship Type="http://schemas.openxmlformats.org/officeDocument/2006/relationships/slide" Target="/ppt/slides/slide7.xml" Id="R4bf32ac1b3de4d4a" /><Relationship Type="http://schemas.openxmlformats.org/officeDocument/2006/relationships/slide" Target="/ppt/slides/slide8.xml" Id="Raddc8487dc47408c" /><Relationship Type="http://schemas.openxmlformats.org/officeDocument/2006/relationships/slide" Target="/ppt/slides/slide9.xml" Id="R70a23385cee747fb" /><Relationship Type="http://schemas.openxmlformats.org/officeDocument/2006/relationships/slide" Target="/ppt/slides/slide10.xml" Id="R233d514b70e24a86" /><Relationship Type="http://schemas.openxmlformats.org/officeDocument/2006/relationships/slide" Target="/ppt/slides/slide11.xml" Id="R4d53e58da48f44a1" /><Relationship Type="http://schemas.openxmlformats.org/officeDocument/2006/relationships/slide" Target="/ppt/slides/slide12.xml" Id="R850e5499ac874fca" /><Relationship Type="http://schemas.openxmlformats.org/officeDocument/2006/relationships/slide" Target="/ppt/slides/slide13.xml" Id="R24ba0d2ec2f745e2" /><Relationship Type="http://schemas.openxmlformats.org/officeDocument/2006/relationships/slide" Target="/ppt/slides/slide14.xml" Id="R53adba10cf1a4a35" /><Relationship Type="http://schemas.openxmlformats.org/officeDocument/2006/relationships/slide" Target="/ppt/slides/slide15.xml" Id="Rb01126743e384051" /><Relationship Type="http://schemas.openxmlformats.org/officeDocument/2006/relationships/slide" Target="/ppt/slides/slide16.xml" Id="R462e73cf560c4c3d" /><Relationship Type="http://schemas.openxmlformats.org/officeDocument/2006/relationships/slide" Target="/ppt/slides/slide17.xml" Id="R86b80076ea2e4892" /><Relationship Type="http://schemas.openxmlformats.org/officeDocument/2006/relationships/slide" Target="/ppt/slides/slide18.xml" Id="R1bf56166778d4f3f" /><Relationship Type="http://schemas.openxmlformats.org/officeDocument/2006/relationships/slide" Target="/ppt/slides/slide19.xml" Id="R7b2d6fcee5b34807" /><Relationship Type="http://schemas.openxmlformats.org/officeDocument/2006/relationships/slide" Target="/ppt/slides/slide20.xml" Id="Rcdae09fb44884662" /><Relationship Type="http://schemas.openxmlformats.org/officeDocument/2006/relationships/slide" Target="/ppt/slides/slide21.xml" Id="R1291c2e72da74e2c" /><Relationship Type="http://schemas.openxmlformats.org/officeDocument/2006/relationships/slide" Target="/ppt/slides/slide22.xml" Id="Rbf4335cb281c482d" /><Relationship Type="http://schemas.openxmlformats.org/officeDocument/2006/relationships/slide" Target="/ppt/slides/slide23.xml" Id="R39c6039c562c4f90" /><Relationship Type="http://schemas.openxmlformats.org/officeDocument/2006/relationships/slide" Target="/ppt/slides/slide24.xml" Id="R047cffeed5e64137" /><Relationship Type="http://schemas.openxmlformats.org/officeDocument/2006/relationships/slide" Target="/ppt/slides/slide25.xml" Id="R5a6e73ab7d664c85" /><Relationship Type="http://schemas.openxmlformats.org/officeDocument/2006/relationships/slide" Target="/ppt/slides/slide26.xml" Id="R6f173f8e75d64be6" /><Relationship Type="http://schemas.openxmlformats.org/officeDocument/2006/relationships/slide" Target="/ppt/slides/slide27.xml" Id="R043ef6ac36454abe" /><Relationship Type="http://schemas.openxmlformats.org/officeDocument/2006/relationships/slide" Target="/ppt/slides/slide28.xml" Id="R3feadb5842a24fd6" /><Relationship Type="http://schemas.openxmlformats.org/officeDocument/2006/relationships/slide" Target="/ppt/slides/slide29.xml" Id="Ra9436e29b68a4f8b" /><Relationship Type="http://schemas.openxmlformats.org/officeDocument/2006/relationships/slide" Target="/ppt/slides/slide30.xml" Id="R6e2f637dae3c4c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04142d8af44e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1ea0c5ae544199" /><Relationship Type="http://schemas.openxmlformats.org/officeDocument/2006/relationships/notesMaster" Target="/ppt/notesMasters/notesMaster1.xml" Id="R7af5171b200749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b82acfcd724f54" /><Relationship Type="http://schemas.openxmlformats.org/officeDocument/2006/relationships/notesMaster" Target="/ppt/notesMasters/notesMaster1.xml" Id="Ra49dfe6ef96448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b697a4f4c548ec" /><Relationship Type="http://schemas.openxmlformats.org/officeDocument/2006/relationships/notesMaster" Target="/ppt/notesMasters/notesMaster1.xml" Id="Ra95f476c3ccc4d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5a7a61521d448e" /><Relationship Type="http://schemas.openxmlformats.org/officeDocument/2006/relationships/notesMaster" Target="/ppt/notesMasters/notesMaster1.xml" Id="R2f25462e5cdc49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14fbae201d48cf" /><Relationship Type="http://schemas.openxmlformats.org/officeDocument/2006/relationships/notesMaster" Target="/ppt/notesMasters/notesMaster1.xml" Id="Re5b4cfcc247740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fcd75f7918442e" /><Relationship Type="http://schemas.openxmlformats.org/officeDocument/2006/relationships/notesMaster" Target="/ppt/notesMasters/notesMaster1.xml" Id="R5ee189a5e51144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a1e4af6dc44812" /><Relationship Type="http://schemas.openxmlformats.org/officeDocument/2006/relationships/notesMaster" Target="/ppt/notesMasters/notesMaster1.xml" Id="Rcdde010c910e46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14618a5ded4df8" /><Relationship Type="http://schemas.openxmlformats.org/officeDocument/2006/relationships/notesMaster" Target="/ppt/notesMasters/notesMaster1.xml" Id="R7d6ce4cfdac141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70320ff9594b41" /><Relationship Type="http://schemas.openxmlformats.org/officeDocument/2006/relationships/notesMaster" Target="/ppt/notesMasters/notesMaster1.xml" Id="R067df8bd53924c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6991b6f2c5422b" /><Relationship Type="http://schemas.openxmlformats.org/officeDocument/2006/relationships/notesMaster" Target="/ppt/notesMasters/notesMaster1.xml" Id="R01919e93c3cc4c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89ebe1f887483d" /><Relationship Type="http://schemas.openxmlformats.org/officeDocument/2006/relationships/notesMaster" Target="/ppt/notesMasters/notesMaster1.xml" Id="R305daf2dd1514b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7371a69e464682" /><Relationship Type="http://schemas.openxmlformats.org/officeDocument/2006/relationships/notesMaster" Target="/ppt/notesMasters/notesMaster1.xml" Id="Rde0c97fe6aba46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58ba6dd29b4e74" /><Relationship Type="http://schemas.openxmlformats.org/officeDocument/2006/relationships/notesMaster" Target="/ppt/notesMasters/notesMaster1.xml" Id="Rc1d7f0d55df543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e2a93cc45a431b" /><Relationship Type="http://schemas.openxmlformats.org/officeDocument/2006/relationships/notesMaster" Target="/ppt/notesMasters/notesMaster1.xml" Id="R96102ab883fc4f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6fd2a716824dc0" /><Relationship Type="http://schemas.openxmlformats.org/officeDocument/2006/relationships/notesMaster" Target="/ppt/notesMasters/notesMaster1.xml" Id="R7b2c07014be1480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1b73d7bebb4d1e" /><Relationship Type="http://schemas.openxmlformats.org/officeDocument/2006/relationships/notesMaster" Target="/ppt/notesMasters/notesMaster1.xml" Id="R6727e27bccec45f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734f45d049646ff" /><Relationship Type="http://schemas.openxmlformats.org/officeDocument/2006/relationships/notesMaster" Target="/ppt/notesMasters/notesMaster1.xml" Id="R462fe7e5bd28403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d2ea9139694bfb" /><Relationship Type="http://schemas.openxmlformats.org/officeDocument/2006/relationships/notesMaster" Target="/ppt/notesMasters/notesMaster1.xml" Id="Rad55e20287ee4f6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54f0545993442bd" /><Relationship Type="http://schemas.openxmlformats.org/officeDocument/2006/relationships/notesMaster" Target="/ppt/notesMasters/notesMaster1.xml" Id="R4fca5aa541b94f6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5605620bab84e11" /><Relationship Type="http://schemas.openxmlformats.org/officeDocument/2006/relationships/notesMaster" Target="/ppt/notesMasters/notesMaster1.xml" Id="R69d0d597ad12456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c8ba678af994fb7" /><Relationship Type="http://schemas.openxmlformats.org/officeDocument/2006/relationships/notesMaster" Target="/ppt/notesMasters/notesMaster1.xml" Id="Re5b5cf8b54a5479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8dd777bf780401f" /><Relationship Type="http://schemas.openxmlformats.org/officeDocument/2006/relationships/notesMaster" Target="/ppt/notesMasters/notesMaster1.xml" Id="Rbff143600abc401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f9f9cf88bfb48ec" /><Relationship Type="http://schemas.openxmlformats.org/officeDocument/2006/relationships/notesMaster" Target="/ppt/notesMasters/notesMaster1.xml" Id="Rbe88626fbebc4e9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c4436579af44eb6" /><Relationship Type="http://schemas.openxmlformats.org/officeDocument/2006/relationships/notesMaster" Target="/ppt/notesMasters/notesMaster1.xml" Id="Ra6cbd7588d2c427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fceae55e09b43fa" /><Relationship Type="http://schemas.openxmlformats.org/officeDocument/2006/relationships/notesMaster" Target="/ppt/notesMasters/notesMaster1.xml" Id="Ree921d1e6138479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15e67aa974849d7" /><Relationship Type="http://schemas.openxmlformats.org/officeDocument/2006/relationships/notesMaster" Target="/ppt/notesMasters/notesMaster1.xml" Id="R05bad988f0464de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70361aee1d541b1" /><Relationship Type="http://schemas.openxmlformats.org/officeDocument/2006/relationships/notesMaster" Target="/ppt/notesMasters/notesMaster1.xml" Id="R288b7b17237944c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4757d3660354e31" /><Relationship Type="http://schemas.openxmlformats.org/officeDocument/2006/relationships/notesMaster" Target="/ppt/notesMasters/notesMaster1.xml" Id="R125c4504a6854ef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36603debf6d4c5c" /><Relationship Type="http://schemas.openxmlformats.org/officeDocument/2006/relationships/notesMaster" Target="/ppt/notesMasters/notesMaster1.xml" Id="R6bfcd7aa499848b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f68c89c07d24091" /><Relationship Type="http://schemas.openxmlformats.org/officeDocument/2006/relationships/notesMaster" Target="/ppt/notesMasters/notesMaster1.xml" Id="Rcea636cc278e4b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Opening, 2 minutes. Introduce one fictional rail reservation application. The objective is a repeatable method for improving reliability. 99.9% is a teaching target, not a claim about KAI or a guarantee from this lab.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minutes. Ask who owns application changes and who receives incident calls. These responsibilities meet at the same customer journey.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minutes. Synthetic application only. A working server does not establish that reservations work. Payment handling is outside this lab.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minutes. Calculation uses 43,200 minutes in 30 days. Explain the difference between time-based and request-based measurements. Source: https://sre.google/workbook/implementing-slos/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into session one. Detailed timing is in the presenter runbook. Keep each live demo to 20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Begin the modernization discussion. Preserve the useful business behavior while changing the runtime and operational weaknesses.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minutes. This is a deliberately small example. It is not an assessment of KAI systems. Both versions retain transaction and idempotency protections so the demonstration can isolate runtime and dependency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minutes. .NET 10 is an LTS release supported through November 2028. Moving to Linux requires compatible libraries. Web Forms, COM, Windows authentication and other platform dependencies need assessment. Source: https://dotnet.microsoft.com/en-us/platform/support/policy/dotnet-core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minutes. Demonstrate explicit routing. This lab has a small API adapter. For general application routing, Microsoft documents YARP with incremental migration. Existing authentication, cookies and shared state require explicit design. Source: https://learn.microsoft.com/en-us/aspnet/core/migration/fx-to-core/start?view=aspnetcore-10.0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minutes. Walk through the shared library. An HTTP timeout can happen after a commit. Idempotency lets the caller safely discover the original outcome. Database constraints and transactional updates protect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minutes. Windows can be an existing machine or a disposable VM. Linux VPS resources cannot run classic .NET Framework natively. The local SQLite fallback is a single-instance rehearsal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minutes. Show one cloud live. Reuse the container on the other cloud after the main environment works. Similar roles do not mean identical deployment or failure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minutes, including questions. Open the browser, legacy controller, shared transaction code and deployment configuration. Show X-Backend response headers. Use the actual Windows path only after it passes rehearsal. The alternative sync-mode demonstration must be described as a behavior simulation.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 minutes including discussion, then take the five-minute break. Containers and managed services do not eliminate operational responsibility.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Resume after the break. Use the same application and customer journey. Introduce indicators, objectives, error budgets and response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minutes. An SLO needs a measurement boundary and owner. A component SLA does not automatically become an end-to-end application SLA. Source: https://sre.google/workbook/implementing-slos/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minutes. The provided dashboard measures the synthetic search probe. App counters describe the instance that served a request. Do not scrape one load-balanced endpoint and assume it aggregates every Cloud Run instance.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minutes. Calculation: 1,000,000 times 0.001. Use the budget to prioritize reliability work and decide release risk. Reaching the budget does not mean stopping a change that would restore the service. Source: https://sre.google/workbook/implementing-slos/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minutes. A 10% canary that fails every request produces approximately 10% overall failure under a representative sample. This is arithmetic, not measured lab evidence. Traffic mix and small samples affect the observed result. Source: https://sre.google/workbook/alerting-on-slos/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minutes. The supplied implementation includes client metrics and structured logs. Distributed tracing is a useful next addition, but this package does not claim to contain a full tracing stack.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minutes. The short alert exists so the audience can observe it. It is not a production paging recommendation. External alert delivery is not configured in this package. Source: https://sre.google/workbook/alerting-on-slos/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 minutes. The presenter invokes the outbox dispatcher explicitly. Explain that a periodic or continuous worker is needed for automatic production delivery. Do not apply this behavior blindly to mandatory payment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 minutes. Cloud Run supports traffic splitting and revision rollback. In-flight requests and rolling metric windows do not clear instantly. Traffic rollback cannot undo a database migration. Source: https://docs.cloud.google.com/run/docs/rollouts-rollbacks-traffic-migration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minutes. In a small team, one person may hold several roles. The responsibilities still need explicit owners. Capture actual detection and recovery timings without presenting them as guarantees.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minutes. RTO describes the recovery-time objective. RPO describes acceptable data loss. A backup success message is insufficient evidence of a working restore. One VPS, even with several containers, is one host failure domain.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 minutes. Use templates/07-pilot-charter.md. Ask participants to work in pairs. Avoid selecting the largest system as the first pilot.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exercise by asking each team to nominate one owner and one first action. These are proposed steps, not commitments already made by KAI.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Reserve the final ten minutes for questions. Return to the assessment, SLO and incident worksheets. Discuss actual user impact and operational ownership.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if access questions arise. AWS recommends federation and temporary credentials. GCP Workload Identity Federation provides a keyless automation option. Sources: https://docs.aws.amazon.com/IAM/latest/UserGuide/best-practices.html ; https://docs.cloud.google.com/iam/docs/workload-identity-federation-with-deployment-pipelines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reusable files are in the workshop package. Reference sources are in docs/SOURCES.md. Adapt definitions and targets to each real 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48a171e98a4f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ce760ed4d46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ba198ac2174c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778c0d50664b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63e49773141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fa3cf04a24c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B7872F-101B-412F-93D3-79BCE4B361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B46A5F-0D0E-4A3E-AAA5-359D15CD5DB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6221CD-D04A-4122-9470-FF4D4C5F7D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B7F10C-BF96-4743-8C68-51FC233562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E64AA69-82A3-4E68-8A82-EB5F88B8A7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E3F1B0-660A-44F8-9D1F-605645557C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13BA88-7498-434B-B1EA-6A6D236E9F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759EBD-F357-4914-934F-98581FBECF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4C3FA9-39AE-490A-9C9B-CAC72F1875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E6A25C-8FD1-4A3C-8CE1-316917DBD3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2c631dd4704a1a" /><Relationship Type="http://schemas.openxmlformats.org/officeDocument/2006/relationships/slideLayout" Target="/ppt/slideLayouts/slideLayout1.xml" Id="R6a35a249d04d4f1c" /><Relationship Type="http://schemas.openxmlformats.org/officeDocument/2006/relationships/slideLayout" Target="/ppt/slideLayouts/slideLayout2.xml" Id="R1dadcf0cc2b245f9" /><Relationship Type="http://schemas.openxmlformats.org/officeDocument/2006/relationships/slideLayout" Target="/ppt/slideLayouts/slideLayout3.xml" Id="R7ea9b80a010d4670" /><Relationship Type="http://schemas.openxmlformats.org/officeDocument/2006/relationships/slideLayout" Target="/ppt/slideLayouts/slideLayout4.xml" Id="R0349b82313664e0d" /><Relationship Type="http://schemas.openxmlformats.org/officeDocument/2006/relationships/slideLayout" Target="/ppt/slideLayouts/slideLayout5.xml" Id="Rb2e2f06f469144e8" /><Relationship Type="http://schemas.openxmlformats.org/officeDocument/2006/relationships/slideLayout" Target="/ppt/slideLayouts/slideLayout6.xml" Id="R83c92452ab374d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35a249d04d4f1c"/>
    <p:sldLayoutId xmlns:r="http://schemas.openxmlformats.org/officeDocument/2006/relationships" id="2147483650" r:id="R1dadcf0cc2b245f9"/>
    <p:sldLayoutId xmlns:r="http://schemas.openxmlformats.org/officeDocument/2006/relationships" id="2147483651" r:id="R7ea9b80a010d4670"/>
    <p:sldLayoutId xmlns:r="http://schemas.openxmlformats.org/officeDocument/2006/relationships" id="2147483652" r:id="R0349b82313664e0d"/>
    <p:sldLayoutId xmlns:r="http://schemas.openxmlformats.org/officeDocument/2006/relationships" id="2147483653" r:id="Rb2e2f06f469144e8"/>
    <p:sldLayoutId xmlns:r="http://schemas.openxmlformats.org/officeDocument/2006/relationships" id="2147483654" r:id="R83c92452ab374d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073f25b38b4379" /><Relationship Type="http://schemas.openxmlformats.org/officeDocument/2006/relationships/notesSlide" Target="/ppt/notesSlides/notesSlide1.xml" Id="Rc1f292576a2240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7bf8b266d4331" /><Relationship Type="http://schemas.openxmlformats.org/officeDocument/2006/relationships/notesSlide" Target="/ppt/notesSlides/notesSlide2.xml" Id="R5d0925a6314f43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74d069bb24d05" /><Relationship Type="http://schemas.openxmlformats.org/officeDocument/2006/relationships/notesSlide" Target="/ppt/notesSlides/notesSlide3.xml" Id="R61c0aa1978e947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79662d1ae84e73" /><Relationship Type="http://schemas.openxmlformats.org/officeDocument/2006/relationships/notesSlide" Target="/ppt/notesSlides/notesSlide4.xml" Id="R1a6d9629e9b043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4348c677048b9" /><Relationship Type="http://schemas.openxmlformats.org/officeDocument/2006/relationships/notesSlide" Target="/ppt/notesSlides/notesSlide5.xml" Id="R0786d022bd2444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997224d0a44492" /><Relationship Type="http://schemas.openxmlformats.org/officeDocument/2006/relationships/notesSlide" Target="/ppt/notesSlides/notesSlide6.xml" Id="Rd6c7f700bd7c4c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c45beb2bc749c3" /><Relationship Type="http://schemas.openxmlformats.org/officeDocument/2006/relationships/notesSlide" Target="/ppt/notesSlides/notesSlide7.xml" Id="R868bb66d28a548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5cbbb21f434687" /><Relationship Type="http://schemas.openxmlformats.org/officeDocument/2006/relationships/notesSlide" Target="/ppt/notesSlides/notesSlide8.xml" Id="R9d519bc6e5d743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a24972300344c6" /><Relationship Type="http://schemas.openxmlformats.org/officeDocument/2006/relationships/notesSlide" Target="/ppt/notesSlides/notesSlide9.xml" Id="Re3f47e58ce614e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f8cf8948cf42ac" /><Relationship Type="http://schemas.openxmlformats.org/officeDocument/2006/relationships/notesSlide" Target="/ppt/notesSlides/notesSlide10.xml" Id="Rb0cd12f8b71d4c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abb6aaa76b4714" /><Relationship Type="http://schemas.openxmlformats.org/officeDocument/2006/relationships/notesSlide" Target="/ppt/notesSlides/notesSlide11.xml" Id="R7a5f74c09a7345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a4406fa3a1496a" /><Relationship Type="http://schemas.openxmlformats.org/officeDocument/2006/relationships/notesSlide" Target="/ppt/notesSlides/notesSlide12.xml" Id="Rd1a40caf3a494a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229638c3044e46" /><Relationship Type="http://schemas.openxmlformats.org/officeDocument/2006/relationships/notesSlide" Target="/ppt/notesSlides/notesSlide13.xml" Id="R88d5a8b1b0a548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4064badd5d42ac" /><Relationship Type="http://schemas.openxmlformats.org/officeDocument/2006/relationships/notesSlide" Target="/ppt/notesSlides/notesSlide14.xml" Id="Rff47ed9339d34f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31677170314706" /><Relationship Type="http://schemas.openxmlformats.org/officeDocument/2006/relationships/notesSlide" Target="/ppt/notesSlides/notesSlide15.xml" Id="Ra16340ba5bc644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8c0c513ca048ff" /><Relationship Type="http://schemas.openxmlformats.org/officeDocument/2006/relationships/notesSlide" Target="/ppt/notesSlides/notesSlide16.xml" Id="R49ef4b20a0d347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f24eb70a4e4329" /><Relationship Type="http://schemas.openxmlformats.org/officeDocument/2006/relationships/notesSlide" Target="/ppt/notesSlides/notesSlide17.xml" Id="R92504c98e934434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77b6879c2c4150" /><Relationship Type="http://schemas.openxmlformats.org/officeDocument/2006/relationships/notesSlide" Target="/ppt/notesSlides/notesSlide18.xml" Id="R4db15479724b42f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bc9803e8574902" /><Relationship Type="http://schemas.openxmlformats.org/officeDocument/2006/relationships/notesSlide" Target="/ppt/notesSlides/notesSlide19.xml" Id="Rac61d786b1484b9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96c384cda74bef" /><Relationship Type="http://schemas.openxmlformats.org/officeDocument/2006/relationships/notesSlide" Target="/ppt/notesSlides/notesSlide20.xml" Id="Rec0f1f1dfac3461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06a2590d4f47a0" /><Relationship Type="http://schemas.openxmlformats.org/officeDocument/2006/relationships/notesSlide" Target="/ppt/notesSlides/notesSlide21.xml" Id="Rfb65e0b5bcba4d3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b826b3726244dd" /><Relationship Type="http://schemas.openxmlformats.org/officeDocument/2006/relationships/notesSlide" Target="/ppt/notesSlides/notesSlide22.xml" Id="R277b2f42cf26457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70170594874ad6" /><Relationship Type="http://schemas.openxmlformats.org/officeDocument/2006/relationships/notesSlide" Target="/ppt/notesSlides/notesSlide23.xml" Id="R388084b876e8416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cf2f3ab02b4752" /><Relationship Type="http://schemas.openxmlformats.org/officeDocument/2006/relationships/notesSlide" Target="/ppt/notesSlides/notesSlide24.xml" Id="Ra7b4b927adfa46f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70299814de4f7d" /><Relationship Type="http://schemas.openxmlformats.org/officeDocument/2006/relationships/notesSlide" Target="/ppt/notesSlides/notesSlide25.xml" Id="Rdcc31fff820f4bb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902c46f8a64b3e" /><Relationship Type="http://schemas.openxmlformats.org/officeDocument/2006/relationships/notesSlide" Target="/ppt/notesSlides/notesSlide26.xml" Id="Rd89f3d78664f42b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9769f4970945fc" /><Relationship Type="http://schemas.openxmlformats.org/officeDocument/2006/relationships/notesSlide" Target="/ppt/notesSlides/notesSlide27.xml" Id="Rea95341e86464f7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073828edf042fa" /><Relationship Type="http://schemas.openxmlformats.org/officeDocument/2006/relationships/notesSlide" Target="/ppt/notesSlides/notesSlide28.xml" Id="R0ab8552f8cb24b8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8fc89433344115" /><Relationship Type="http://schemas.openxmlformats.org/officeDocument/2006/relationships/notesSlide" Target="/ppt/notesSlides/notesSlide29.xml" Id="R0f9ecd218d8c424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249702de374cd7" /><Relationship Type="http://schemas.openxmlformats.org/officeDocument/2006/relationships/notesSlide" Target="/ppt/notesSlides/notesSlide30.xml" Id="R24e382ea013c42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27FCE7E-2323-47FD-86A7-C552D66E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0572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Achieving 99.9%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availability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BEE075-A545-4E6E-BA1C-70D1D255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Application modernization and SRE</a:t>
            </a:r>
          </a:p>
        </p:txBody>
      </p:sp>
      <p:sp>
        <p:nvSpPr>
          <p:cNvPr id="3" name="event">
            <a:extLst xmlns:a="http://schemas.openxmlformats.org/drawingml/2006/main">
              <a:ext uri="{FF2B5EF4-FFF2-40B4-BE49-F238E27FC236}">
                <a16:creationId xmlns:a16="http://schemas.microsoft.com/office/drawing/2014/main" id="{C783A8B5-B171-4340-B069-3499370B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4DEE6"/>
                </a:solidFill>
                <a:latin typeface="DejaVu Sans"/>
                <a:ea typeface="DejaVu Sans"/>
                <a:cs typeface="DejaVu Sans"/>
              </a:rPr>
              <a:t>KAI technical meeting</a:t>
            </a:r>
          </a:p>
          <a:p xmlns:a="http://schemas.openxmlformats.org/drawingml/2006/main">
            <a:pPr>
              <a:defRPr sz="1875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4DEE6"/>
                </a:solidFill>
                <a:latin typeface="DejaVu Sans"/>
                <a:ea typeface="DejaVu Sans"/>
                <a:cs typeface="DejaVu Sans"/>
              </a:rPr>
              <a:t>30 October 2026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5EDBBF2-89F3-46F6-BC9A-408E069A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580126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CF6A292F-5BDA-4C14-9077-02F0E652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The outcomes for today</a:t>
            </a:r>
          </a:p>
        </p:txBody>
      </p:sp>
      <p:sp>
        <p:nvSpPr>
          <p:cNvPr id="2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16425403-7002-4D07-9516-38EDC768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Application teams</a:t>
            </a:r>
          </a:p>
        </p:txBody>
      </p:sp>
      <p:sp>
        <p:nvSpPr>
          <p:cNvPr id="3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A33A8216-6781-4A55-8104-0541CE82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Infrastructure and operations</a:t>
            </a:r>
          </a:p>
        </p:txBody>
      </p:sp>
      <p:sp>
        <p:nvSpPr>
          <p:cNvPr id="4" name="left-copy">
            <a:extLst xmlns:a="http://schemas.openxmlformats.org/drawingml/2006/main">
              <a:ext uri="{FF2B5EF4-FFF2-40B4-BE49-F238E27FC236}">
                <a16:creationId xmlns:a16="http://schemas.microsoft.com/office/drawing/2014/main" id="{41B3017E-5DDB-4635-9E3E-4A579840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Identify a small migration boundary.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Preserve booking correctness.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Release a change with a rollback path.</a:t>
            </a:r>
          </a:p>
        </p:txBody>
      </p:sp>
      <p:sp>
        <p:nvSpPr>
          <p:cNvPr id="5" name="right-copy">
            <a:extLst xmlns:a="http://schemas.openxmlformats.org/drawingml/2006/main">
              <a:ext uri="{FF2B5EF4-FFF2-40B4-BE49-F238E27FC236}">
                <a16:creationId xmlns:a16="http://schemas.microsoft.com/office/drawing/2014/main" id="{2BC2AC99-96E1-4D28-B75E-E77E9A58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Measure the user experience.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Respond to a controlled failure.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Choose one reliability pilot.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C1E1C16-0653-4A53-AC5C-B5151085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84053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A92975-1368-4536-A98A-31CB15C7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 reservation is a customer outcome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94773-8A73-4B2D-B2CA-ED31CD47CB6A}"/>
              </a:ext>
            </a:extLst>
          </p:cNvPr>
          <p:cNvGraphicFramePr/>
          <p:nvPr/>
        </p:nvGraphicFramePr>
        <p:xfrm>
          <a:off xmlns:a="http://schemas.openxmlformats.org/drawingml/2006/main" x="762000" y="1857375"/>
          <a:ext xmlns:a="http://schemas.openxmlformats.org/drawingml/2006/main" cx="10668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524750"/>
              </a:tblGrid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Step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Correct outcome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Search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expected train options appear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Reserve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seat allocation and booking commit together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Retry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same request returns the same booking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Notify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Confirmation arrives within an agreed delay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7A44B2B-06D1-4C10-8BDE-10C576A3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393932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E25B81D-20CB-48AF-BBCE-F5D9BE3F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The meaning of the nines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F5719-A4E6-4660-85F5-A85ECD84EA6A}"/>
              </a:ext>
            </a:extLst>
          </p:cNvPr>
          <p:cNvGraphicFramePr/>
          <p:nvPr/>
        </p:nvGraphicFramePr>
        <p:xfrm>
          <a:off xmlns:a="http://schemas.openxmlformats.org/drawingml/2006/main" x="762000" y="1857375"/>
          <a:ext xmlns:a="http://schemas.openxmlformats.org/drawingml/2006/main" cx="10668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524750"/>
              </a:tblGrid>
              <a:tr h="892969"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Time-based target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Unavailable time in 30 days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</a:tr>
              <a:tr h="892969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99%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 hours 12 minutes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892969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99.9%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43 minutes 12 seconds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2969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99.99%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 minutes 19.2 seconds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DC53702B-6C3B-417F-80F8-4D3B5B90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Request-based objectives count outcomes. Their budget is not directly interchangeable with outage minutes.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DA7CCD8-1438-47C1-9CFA-5B1DDEBA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000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749C38-65EF-4EE4-A560-2C823871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Two sessions, one application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D7CCD-2AE0-47DA-952A-46B0C6A6F5B5}"/>
              </a:ext>
            </a:extLst>
          </p:cNvPr>
          <p:cNvGraphicFramePr/>
          <p:nvPr/>
        </p:nvGraphicFramePr>
        <p:xfrm>
          <a:off xmlns:a="http://schemas.openxmlformats.org/drawingml/2006/main" x="762000" y="1857375"/>
          <a:ext xmlns:a="http://schemas.openxmlformats.org/drawingml/2006/main" cx="10668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524750"/>
              </a:tblGrid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Time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Activity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0–30 minutes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Customer journey and modernization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30–55 minutes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Migration demo and discussion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55–80 minutes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Break, then SRE foundations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80–120 minutes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Failure demo, pilot exercise and questions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D6AE465-1555-4E76-82DC-ECE607E1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596013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2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5A90AC-ADED-43AD-B7FE-8A11F5AB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10572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Application</a:t>
            </a:r>
          </a:p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modernization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CA08C9-343D-46D0-9B93-C2C059A9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rPr>
              <a:t>A controlled change to how the application runs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F09A328-290E-4A02-8D1C-8888AAD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734456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447611B-48AE-4E67-8F80-D7F96267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The starting application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9F94C-F947-4EE1-AAF2-108B4848119E}"/>
              </a:ext>
            </a:extLst>
          </p:cNvPr>
          <p:cNvGraphicFramePr/>
          <p:nvPr/>
        </p:nvGraphicFramePr>
        <p:xfrm>
          <a:off xmlns:a="http://schemas.openxmlformats.org/drawingml/2006/main" x="762000" y="1857375"/>
          <a:ext xmlns:a="http://schemas.openxmlformats.org/drawingml/2006/main" cx="10668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524750"/>
              </a:tblGrid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Concern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Existing behavior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Runtime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ASP.NET MVC 5, .NET Framework 4.8, Windows/IIS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SQL Server stores bookings and seat availability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Dependency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Booking response waits for notification delivery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Change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 application release can affect every request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2C7F0F8-2083-4D24-A330-F3C6EAC4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415169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2AA6DDCB-1784-441D-9AD0-91D40DFE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Modernization decisions</a:t>
            </a:r>
          </a:p>
        </p:txBody>
      </p:sp>
      <p:sp>
        <p:nvSpPr>
          <p:cNvPr id="2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127D3154-C0C3-4AB7-88AA-06DDB9E4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Changes in this lab</a:t>
            </a:r>
          </a:p>
        </p:txBody>
      </p:sp>
      <p:sp>
        <p:nvSpPr>
          <p:cNvPr id="3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0798CBBC-A5D1-44CE-B22C-757AFCD1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Separate decisions</a:t>
            </a:r>
          </a:p>
        </p:txBody>
      </p:sp>
      <p:sp>
        <p:nvSpPr>
          <p:cNvPr id="4" name="left-copy">
            <a:extLst xmlns:a="http://schemas.openxmlformats.org/drawingml/2006/main">
              <a:ext uri="{FF2B5EF4-FFF2-40B4-BE49-F238E27FC236}">
                <a16:creationId xmlns:a16="http://schemas.microsoft.com/office/drawing/2014/main" id="{0256E94C-A096-49A8-ADB7-6DB0BB6F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ASP.NET Core on .NET 10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Linux container packaging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Incremental route migration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Asynchronous notification delivery</a:t>
            </a:r>
          </a:p>
        </p:txBody>
      </p:sp>
      <p:sp>
        <p:nvSpPr>
          <p:cNvPr id="5" name="right-copy">
            <a:extLst xmlns:a="http://schemas.openxmlformats.org/drawingml/2006/main">
              <a:ext uri="{FF2B5EF4-FFF2-40B4-BE49-F238E27FC236}">
                <a16:creationId xmlns:a16="http://schemas.microsoft.com/office/drawing/2014/main" id="{1247260C-0537-4E7C-A242-31B4E1D4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Database engine conversion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Kubernetes adoption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Cross-cloud failover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 complete application rewrite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C461503-EAD3-4781-9096-2874CAF7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864641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1A1C6A7-1B50-4708-982F-DC93A347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Incremental migration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F5361-AAA1-4362-9E68-20CFC1A72EA8}"/>
              </a:ext>
            </a:extLst>
          </p:cNvPr>
          <p:cNvGraphicFramePr/>
          <p:nvPr/>
        </p:nvGraphicFramePr>
        <p:xfrm>
          <a:off xmlns:a="http://schemas.openxmlformats.org/drawingml/2006/main" x="762000" y="1857375"/>
          <a:ext xmlns:a="http://schemas.openxmlformats.org/drawingml/2006/main" cx="10668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000500"/>
                <a:gridCol w="4000500"/>
              </a:tblGrid>
              <a:tr h="892969"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Checkpoint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Search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Reservation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</a:tr>
              <a:tr h="892969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Original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Windows/IIS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Windows/IIS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892969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 migration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ASP.NET Core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Windows/IIS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2969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Second migration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ASP.NET Core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ASP.NET Core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96867598-1064-4EB8-87F0-F77DDD0C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Both implementations use the same SQL Server and shared booking rules.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E98E906-4407-4755-AAA0-CAEAD312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797725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AB0FB4F-242D-4CB0-BA24-8C9506E7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Booking correctness</a:t>
            </a:r>
          </a:p>
        </p:txBody>
      </p:sp>
      <p:sp>
        <p:nvSpPr>
          <p:cNvPr id="2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F7678889-7D1A-4252-AEF5-148BA130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One transaction</a:t>
            </a:r>
          </a:p>
        </p:txBody>
      </p:sp>
      <p:sp>
        <p:nvSpPr>
          <p:cNvPr id="3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8E142482-52F9-4585-A77D-EF96D7BC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One request identity</a:t>
            </a:r>
          </a:p>
        </p:txBody>
      </p:sp>
      <p:sp>
        <p:nvSpPr>
          <p:cNvPr id="4" name="left-copy">
            <a:extLst xmlns:a="http://schemas.openxmlformats.org/drawingml/2006/main">
              <a:ext uri="{FF2B5EF4-FFF2-40B4-BE49-F238E27FC236}">
                <a16:creationId xmlns:a16="http://schemas.microsoft.com/office/drawing/2014/main" id="{CFBF128F-31C0-4CD5-9B64-8C6DB501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Check available seats.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Allocate seats.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Store the booking.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Store the notification event.</a:t>
            </a:r>
          </a:p>
        </p:txBody>
      </p:sp>
      <p:sp>
        <p:nvSpPr>
          <p:cNvPr id="5" name="right-copy">
            <a:extLst xmlns:a="http://schemas.openxmlformats.org/drawingml/2006/main">
              <a:ext uri="{FF2B5EF4-FFF2-40B4-BE49-F238E27FC236}">
                <a16:creationId xmlns:a16="http://schemas.microsoft.com/office/drawing/2014/main" id="{68C35183-F4D7-4D41-98DB-CD7AE0A4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 repeated key returns the original result.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Different input with that key returns a conflict.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Concurrent requests cannot oversell seats.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C11416DA-C63C-4734-88EA-3CB63F4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580540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039FAED-4CDB-4383-A43D-AC1706EF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The hybrid lab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7C658-FCFB-452B-B8C3-40EA154111CB}"/>
              </a:ext>
            </a:extLst>
          </p:cNvPr>
          <p:cNvGraphicFramePr/>
          <p:nvPr/>
        </p:nvGraphicFramePr>
        <p:xfrm>
          <a:off xmlns:a="http://schemas.openxmlformats.org/drawingml/2006/main" x="762000" y="1857375"/>
          <a:ext xmlns:a="http://schemas.openxmlformats.org/drawingml/2006/main" cx="10668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524750"/>
              </a:tblGrid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Location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Responsibility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Windows host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Legacy ASP.NET MVC application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Cloud Run or Fargate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Modern booking application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SQL Server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Bookings, seat inventory and durable outbox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VPS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Mock dependency, client probe and optional monitoring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2FF41CCA-E7F1-471B-A68D-AD28D7E4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If the critical database remains on one VPS, that host remains a failure point.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F43DC56-168F-4BAA-8884-565A0EC4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919645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1D64EA2-1464-4A6A-91BA-5BEDABE1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Cloud deployment choices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A45C0-43DC-4FC2-A904-D63E2195DA04}"/>
              </a:ext>
            </a:extLst>
          </p:cNvPr>
          <p:cNvGraphicFramePr/>
          <p:nvPr/>
        </p:nvGraphicFramePr>
        <p:xfrm>
          <a:off xmlns:a="http://schemas.openxmlformats.org/drawingml/2006/main" x="762000" y="1857375"/>
          <a:ext xmlns:a="http://schemas.openxmlformats.org/drawingml/2006/main" cx="10668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000500"/>
                <a:gridCol w="4000500"/>
              </a:tblGrid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GCP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AWS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Application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Cloud Run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ECS Fargate and ALB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Database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Cloud SQL for SQL Server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RDS for SQL Server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Image registry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Artifact Registry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Logs and metrics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Cloud Logging / Monitoring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CloudWatch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7595B0F1-3B54-47D0-8395-3EEDA325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The first build uses a SQL outbox and HTTP delivery. Pub/Sub and SQS are later extensions.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97E8295-BCD1-418A-BDE4-B5ED61FE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401735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A2C81697-A91A-41A3-9465-8BD3E08B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Demo 1: the migration</a:t>
            </a:r>
          </a:p>
        </p:txBody>
      </p:sp>
      <p:sp>
        <p:nvSpPr>
          <p:cNvPr id="2" name="step-0">
            <a:extLst xmlns:a="http://schemas.openxmlformats.org/drawingml/2006/main">
              <a:ext uri="{FF2B5EF4-FFF2-40B4-BE49-F238E27FC236}">
                <a16:creationId xmlns:a16="http://schemas.microsoft.com/office/drawing/2014/main" id="{E1EA2D50-2C00-426B-ADE9-F1ED61D7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action-0">
            <a:extLst xmlns:a="http://schemas.openxmlformats.org/drawingml/2006/main">
              <a:ext uri="{FF2B5EF4-FFF2-40B4-BE49-F238E27FC236}">
                <a16:creationId xmlns:a16="http://schemas.microsoft.com/office/drawing/2014/main" id="{0FEBA816-A0EB-4453-A6AB-71560F4C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5740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Show the working legacy application</a:t>
            </a: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4C697D43-8F02-4F53-9C90-2D0084A5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action-1">
            <a:extLst xmlns:a="http://schemas.openxmlformats.org/drawingml/2006/main">
              <a:ext uri="{FF2B5EF4-FFF2-40B4-BE49-F238E27FC236}">
                <a16:creationId xmlns:a16="http://schemas.microsoft.com/office/drawing/2014/main" id="{41BD04A5-E8E3-4440-96D5-04A56AC5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Move search to the modern runtime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D0D3FB6B-8A9C-44F7-B8A1-CC2CC75D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7" name="action-2">
            <a:extLst xmlns:a="http://schemas.openxmlformats.org/drawingml/2006/main">
              <a:ext uri="{FF2B5EF4-FFF2-40B4-BE49-F238E27FC236}">
                <a16:creationId xmlns:a16="http://schemas.microsoft.com/office/drawing/2014/main" id="{676F671E-4D00-4CB5-B15D-1EB48DEE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6240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Move booking while keeping the SQL data</a:t>
            </a:r>
          </a:p>
        </p:txBody>
      </p:sp>
      <p:sp>
        <p:nvSpPr>
          <p:cNvPr id="8" name="step-3">
            <a:extLst xmlns:a="http://schemas.openxmlformats.org/drawingml/2006/main">
              <a:ext uri="{FF2B5EF4-FFF2-40B4-BE49-F238E27FC236}">
                <a16:creationId xmlns:a16="http://schemas.microsoft.com/office/drawing/2014/main" id="{24E3FB72-A4F8-4F6E-9FA3-EC04C007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9" name="action-3">
            <a:extLst xmlns:a="http://schemas.openxmlformats.org/drawingml/2006/main">
              <a:ext uri="{FF2B5EF4-FFF2-40B4-BE49-F238E27FC236}">
                <a16:creationId xmlns:a16="http://schemas.microsoft.com/office/drawing/2014/main" id="{D24FFE44-D8DD-4619-BB27-01B0A70E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1490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Retry a reservation and inspect its identity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10BC0C7A-FBF6-4387-BA15-D6DF9554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735582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6DFAE7A-71D4-4F7C-A45E-C093DAB6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What the architecture now supports</a:t>
            </a:r>
          </a:p>
        </p:txBody>
      </p:sp>
      <p:sp>
        <p:nvSpPr>
          <p:cNvPr id="2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13BF257D-06BD-471D-91BC-0C9ED65C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Improved behavior</a:t>
            </a:r>
          </a:p>
        </p:txBody>
      </p:sp>
      <p:sp>
        <p:nvSpPr>
          <p:cNvPr id="3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1050FF03-877A-444B-98AD-7F22597E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Remaining responsibilities</a:t>
            </a:r>
          </a:p>
        </p:txBody>
      </p:sp>
      <p:sp>
        <p:nvSpPr>
          <p:cNvPr id="4" name="left-copy">
            <a:extLst xmlns:a="http://schemas.openxmlformats.org/drawingml/2006/main">
              <a:ext uri="{FF2B5EF4-FFF2-40B4-BE49-F238E27FC236}">
                <a16:creationId xmlns:a16="http://schemas.microsoft.com/office/drawing/2014/main" id="{74D310D1-CEB0-447C-9D69-81940301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Independent application releases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Stateless application instances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Durable notification backlog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 known route back to a healthy version</a:t>
            </a:r>
          </a:p>
        </p:txBody>
      </p:sp>
      <p:sp>
        <p:nvSpPr>
          <p:cNvPr id="5" name="right-copy">
            <a:extLst xmlns:a="http://schemas.openxmlformats.org/drawingml/2006/main">
              <a:ext uri="{FF2B5EF4-FFF2-40B4-BE49-F238E27FC236}">
                <a16:creationId xmlns:a16="http://schemas.microsoft.com/office/drawing/2014/main" id="{E6F88E1A-D10B-4F23-A60A-07A51B1C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Database availability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Capacity and connection limits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Access and secret management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Recovery practice and ownership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80D5A9B-A0AE-4298-B85D-0AE58C32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523351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22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E24E01-7980-494C-AE8E-711A2ADF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10572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Site reliability</a:t>
            </a:r>
          </a:p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engineering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20BEE44-0FF0-4548-80E9-58646382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rPr>
              <a:t>An operating practice for measurable user outcomes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CDD489F-5331-489F-93E3-CF8EC5B3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131537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535A17-9A42-4AE0-A654-FE4F1351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Indicator, objective and agreement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77AA5-48C6-4788-80C1-E606ACCCC1EC}"/>
              </a:ext>
            </a:extLst>
          </p:cNvPr>
          <p:cNvGraphicFramePr/>
          <p:nvPr/>
        </p:nvGraphicFramePr>
        <p:xfrm>
          <a:off xmlns:a="http://schemas.openxmlformats.org/drawingml/2006/main" x="762000" y="1857375"/>
          <a:ext xmlns:a="http://schemas.openxmlformats.org/drawingml/2006/main" cx="10668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000500"/>
                <a:gridCol w="4000500"/>
              </a:tblGrid>
              <a:tr h="892969"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Term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Meaning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Workshop example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</a:tr>
              <a:tr h="892969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SLI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we measure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Correct search outcomes / eligible searches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892969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SLO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internal target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99.9% over a rolling 30 days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2969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SLA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 external commitment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separately agreed contractual obligation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</a:tbl>
          </a:graphicData>
        </a:graphic>
      </p:graphicFrame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9E9A0CB-4144-413A-BA5C-E55F529B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746811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4B107BA4-BB16-43D6-BEA1-DCB19C9C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The measurement boundary</a:t>
            </a:r>
          </a:p>
        </p:txBody>
      </p:sp>
      <p:sp>
        <p:nvSpPr>
          <p:cNvPr id="2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D9194A94-2DF3-4E1E-99C0-7711508E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Client experience</a:t>
            </a:r>
          </a:p>
        </p:txBody>
      </p:sp>
      <p:sp>
        <p:nvSpPr>
          <p:cNvPr id="3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EF702879-4706-4677-B80E-A6D835DD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Interpretation</a:t>
            </a:r>
          </a:p>
        </p:txBody>
      </p:sp>
      <p:sp>
        <p:nvSpPr>
          <p:cNvPr id="4" name="left-copy">
            <a:extLst xmlns:a="http://schemas.openxmlformats.org/drawingml/2006/main">
              <a:ext uri="{FF2B5EF4-FFF2-40B4-BE49-F238E27FC236}">
                <a16:creationId xmlns:a16="http://schemas.microsoft.com/office/drawing/2014/main" id="{94126624-913A-41B0-8E09-C033AC85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 correct response counts as good.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 timeout or server failure counts as bad.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The client probe sees failures before the app.</a:t>
            </a:r>
          </a:p>
        </p:txBody>
      </p:sp>
      <p:sp>
        <p:nvSpPr>
          <p:cNvPr id="5" name="right-copy">
            <a:extLst xmlns:a="http://schemas.openxmlformats.org/drawingml/2006/main">
              <a:ext uri="{FF2B5EF4-FFF2-40B4-BE49-F238E27FC236}">
                <a16:creationId xmlns:a16="http://schemas.microsoft.com/office/drawing/2014/main" id="{7E0E7C93-7906-4D43-A974-A82B4CC9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Synthetic searches are one signal.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Bookings need their own outcome definition.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Missing telemetry means unknown.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5887AB6-F091-4584-A51F-20DFF636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746082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2C5A4BE-7DDD-45E9-9727-A22D4DA0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The error budget</a:t>
            </a:r>
          </a:p>
        </p:txBody>
      </p:sp>
      <p:sp>
        <p:nvSpPr>
          <p:cNvPr id="2" name="number">
            <a:extLst xmlns:a="http://schemas.openxmlformats.org/drawingml/2006/main">
              <a:ext uri="{FF2B5EF4-FFF2-40B4-BE49-F238E27FC236}">
                <a16:creationId xmlns:a16="http://schemas.microsoft.com/office/drawing/2014/main" id="{1D6116EB-67D3-41A5-86E6-B05D548C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1,000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B09AC97B-15E2-46D8-82A7-338D9B99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38575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allowed unsuccessful requests per 1,000,000 eligible requests</a:t>
            </a:r>
          </a:p>
        </p:txBody>
      </p:sp>
      <p:sp>
        <p:nvSpPr>
          <p:cNvPr id="4" name="context">
            <a:extLst xmlns:a="http://schemas.openxmlformats.org/drawingml/2006/main">
              <a:ext uri="{FF2B5EF4-FFF2-40B4-BE49-F238E27FC236}">
                <a16:creationId xmlns:a16="http://schemas.microsoft.com/office/drawing/2014/main" id="{72554EA8-2110-4D0D-A9AF-475FF6D4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5782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Illustrative 99.9% objective over the agreed measurement window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DED7859-B1EA-42BF-BAC7-31F7BDC3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240894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1F80916-A2A1-4E59-B962-E8406E73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Budget burn during a bad release</a:t>
            </a:r>
          </a:p>
        </p:txBody>
      </p:sp>
      <p:sp>
        <p:nvSpPr>
          <p:cNvPr id="2" name="number">
            <a:extLst xmlns:a="http://schemas.openxmlformats.org/drawingml/2006/main">
              <a:ext uri="{FF2B5EF4-FFF2-40B4-BE49-F238E27FC236}">
                <a16:creationId xmlns:a16="http://schemas.microsoft.com/office/drawing/2014/main" id="{5A6ACE41-677E-414D-B63B-FDF17B14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106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100×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36302BBA-41A1-4FD5-A129-A9EC7FC8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38575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the allowed error rate when 10% of requests fail</a:t>
            </a:r>
          </a:p>
        </p:txBody>
      </p:sp>
      <p:sp>
        <p:nvSpPr>
          <p:cNvPr id="4" name="context">
            <a:extLst xmlns:a="http://schemas.openxmlformats.org/drawingml/2006/main">
              <a:ext uri="{FF2B5EF4-FFF2-40B4-BE49-F238E27FC236}">
                <a16:creationId xmlns:a16="http://schemas.microsoft.com/office/drawing/2014/main" id="{0EC43CCE-DA53-4949-99FE-21DD3559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5782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Illustration: 10% failure rate ÷ 0.1% allowed failure rate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C5EC4C8-F458-4337-8C46-A7552953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6429711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AD498F-C6D6-4930-BCFF-19EB240F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The operating view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AB264-70F2-4F4A-A46D-94D1F1B75987}"/>
              </a:ext>
            </a:extLst>
          </p:cNvPr>
          <p:cNvGraphicFramePr/>
          <p:nvPr/>
        </p:nvGraphicFramePr>
        <p:xfrm>
          <a:off xmlns:a="http://schemas.openxmlformats.org/drawingml/2006/main" x="762000" y="1857375"/>
          <a:ext xmlns:a="http://schemas.openxmlformats.org/drawingml/2006/main" cx="10668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524750"/>
              </a:tblGrid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Question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Success and latency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users complete the journey promptly?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Traffic and saturation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Are demand and resource limits compatible?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Version and request logs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Which change or dependency explains the failure?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Outbox age and pending count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Are delayed notifications recovering?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7945E26-BC3B-45C3-9045-148EB22A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021649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B13956D7-034A-4C64-B480-64B3E22B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Alerts with a useful response</a:t>
            </a:r>
          </a:p>
        </p:txBody>
      </p:sp>
      <p:sp>
        <p:nvSpPr>
          <p:cNvPr id="2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1A7AC22E-F72F-4CDA-AB59-8A49FCCA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Live exercise</a:t>
            </a:r>
          </a:p>
        </p:txBody>
      </p:sp>
      <p:sp>
        <p:nvSpPr>
          <p:cNvPr id="3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5B2A43E4-2388-4101-8EFD-80A98ED2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Production design</a:t>
            </a:r>
          </a:p>
        </p:txBody>
      </p:sp>
      <p:sp>
        <p:nvSpPr>
          <p:cNvPr id="4" name="left-copy">
            <a:extLst xmlns:a="http://schemas.openxmlformats.org/drawingml/2006/main">
              <a:ext uri="{FF2B5EF4-FFF2-40B4-BE49-F238E27FC236}">
                <a16:creationId xmlns:a16="http://schemas.microsoft.com/office/drawing/2014/main" id="{5843738F-EBC9-4FAC-8AB1-FA46790A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One-minute failure ratio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Short persistence period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Visible alert in Prometheus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 rehearsed rollback action</a:t>
            </a:r>
          </a:p>
        </p:txBody>
      </p:sp>
      <p:sp>
        <p:nvSpPr>
          <p:cNvPr id="5" name="right-copy">
            <a:extLst xmlns:a="http://schemas.openxmlformats.org/drawingml/2006/main">
              <a:ext uri="{FF2B5EF4-FFF2-40B4-BE49-F238E27FC236}">
                <a16:creationId xmlns:a16="http://schemas.microsoft.com/office/drawing/2014/main" id="{4C134D9B-0DFC-4BE8-8638-C3EE5433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Reviewed burn-rate windows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Minimum traffic and missing-data rules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Named on-call owner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 tested notification route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6133FA7-882B-41F4-BC3B-AE78DB34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537831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A2462E0D-12D5-459E-9E5F-45796099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Demo 2A: dependency failure</a:t>
            </a:r>
          </a:p>
        </p:txBody>
      </p:sp>
      <p:sp>
        <p:nvSpPr>
          <p:cNvPr id="2" name="step-0">
            <a:extLst xmlns:a="http://schemas.openxmlformats.org/drawingml/2006/main">
              <a:ext uri="{FF2B5EF4-FFF2-40B4-BE49-F238E27FC236}">
                <a16:creationId xmlns:a16="http://schemas.microsoft.com/office/drawing/2014/main" id="{41C92DD5-BD5D-4880-A412-3AA043E7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action-0">
            <a:extLst xmlns:a="http://schemas.openxmlformats.org/drawingml/2006/main">
              <a:ext uri="{FF2B5EF4-FFF2-40B4-BE49-F238E27FC236}">
                <a16:creationId xmlns:a16="http://schemas.microsoft.com/office/drawing/2014/main" id="{FEB34BE3-F2C9-46E8-BFEC-BF0D3C0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5740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Stop successful notification responses</a:t>
            </a: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EA10E35C-8ADE-426D-8F16-079F5551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action-1">
            <a:extLst xmlns:a="http://schemas.openxmlformats.org/drawingml/2006/main">
              <a:ext uri="{FF2B5EF4-FFF2-40B4-BE49-F238E27FC236}">
                <a16:creationId xmlns:a16="http://schemas.microsoft.com/office/drawing/2014/main" id="{1C677C40-8E73-4B87-81BA-7159582A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Verify new bookings still commit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705B1FB2-5721-472E-8BF5-934C2582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7" name="action-2">
            <a:extLst xmlns:a="http://schemas.openxmlformats.org/drawingml/2006/main">
              <a:ext uri="{FF2B5EF4-FFF2-40B4-BE49-F238E27FC236}">
                <a16:creationId xmlns:a16="http://schemas.microsoft.com/office/drawing/2014/main" id="{D17E7944-827F-4AD2-8272-2435C749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6240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Observe the durable pending events</a:t>
            </a:r>
          </a:p>
        </p:txBody>
      </p:sp>
      <p:sp>
        <p:nvSpPr>
          <p:cNvPr id="8" name="step-3">
            <a:extLst xmlns:a="http://schemas.openxmlformats.org/drawingml/2006/main">
              <a:ext uri="{FF2B5EF4-FFF2-40B4-BE49-F238E27FC236}">
                <a16:creationId xmlns:a16="http://schemas.microsoft.com/office/drawing/2014/main" id="{CF41E902-C6D1-4F46-ADB4-D413B0AB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9" name="action-3">
            <a:extLst xmlns:a="http://schemas.openxmlformats.org/drawingml/2006/main">
              <a:ext uri="{FF2B5EF4-FFF2-40B4-BE49-F238E27FC236}">
                <a16:creationId xmlns:a16="http://schemas.microsoft.com/office/drawing/2014/main" id="{E70F8B1F-FBA2-4B63-A043-7E9DE428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1490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Restore delivery and verify duplicates do not appear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7D2D4828-F10A-470A-B10B-1493616C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1182003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186D0DDA-58B2-4510-9A8A-1196510B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Demo 2B: a faulty release</a:t>
            </a:r>
          </a:p>
        </p:txBody>
      </p:sp>
      <p:sp>
        <p:nvSpPr>
          <p:cNvPr id="2" name="step-0">
            <a:extLst xmlns:a="http://schemas.openxmlformats.org/drawingml/2006/main">
              <a:ext uri="{FF2B5EF4-FFF2-40B4-BE49-F238E27FC236}">
                <a16:creationId xmlns:a16="http://schemas.microsoft.com/office/drawing/2014/main" id="{4597985D-6614-4CE7-9A1A-8E8DBE82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action-0">
            <a:extLst xmlns:a="http://schemas.openxmlformats.org/drawingml/2006/main">
              <a:ext uri="{FF2B5EF4-FFF2-40B4-BE49-F238E27FC236}">
                <a16:creationId xmlns:a16="http://schemas.microsoft.com/office/drawing/2014/main" id="{A2F019E0-1D95-45AC-AE6E-4A3436B3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5740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Send a small traffic share to the faulty revision</a:t>
            </a: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2A4374C0-DF52-45FB-BABE-D30CB1F1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action-1">
            <a:extLst xmlns:a="http://schemas.openxmlformats.org/drawingml/2006/main">
              <a:ext uri="{FF2B5EF4-FFF2-40B4-BE49-F238E27FC236}">
                <a16:creationId xmlns:a16="http://schemas.microsoft.com/office/drawing/2014/main" id="{AEEEE5F3-0F1B-4336-A79C-7A126B27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Observe customer errors while liveness stays healthy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EEAF557D-5F15-4839-984B-5BFEB887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7" name="action-2">
            <a:extLst xmlns:a="http://schemas.openxmlformats.org/drawingml/2006/main">
              <a:ext uri="{FF2B5EF4-FFF2-40B4-BE49-F238E27FC236}">
                <a16:creationId xmlns:a16="http://schemas.microsoft.com/office/drawing/2014/main" id="{E8F44D0A-5589-4958-9299-FCD7C1F3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6240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Return traffic to the verified stable revision</a:t>
            </a:r>
          </a:p>
        </p:txBody>
      </p:sp>
      <p:sp>
        <p:nvSpPr>
          <p:cNvPr id="8" name="step-3">
            <a:extLst xmlns:a="http://schemas.openxmlformats.org/drawingml/2006/main">
              <a:ext uri="{FF2B5EF4-FFF2-40B4-BE49-F238E27FC236}">
                <a16:creationId xmlns:a16="http://schemas.microsoft.com/office/drawing/2014/main" id="{26BB7BE8-C3F4-4924-B03C-AE8E7750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90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9" name="action-3">
            <a:extLst xmlns:a="http://schemas.openxmlformats.org/drawingml/2006/main">
              <a:ext uri="{FF2B5EF4-FFF2-40B4-BE49-F238E27FC236}">
                <a16:creationId xmlns:a16="http://schemas.microsoft.com/office/drawing/2014/main" id="{C82304E5-F1F0-4EB2-88E8-59F46AA5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1490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Verify new requests and record recovery time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A73C78B6-879E-498F-92E5-FA5E7BE9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358571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C59D7E-AF65-48AC-80AC-E7842C77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Incident response ownership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65076-6A86-4643-9814-3C84BE50D645}"/>
              </a:ext>
            </a:extLst>
          </p:cNvPr>
          <p:cNvGraphicFramePr/>
          <p:nvPr/>
        </p:nvGraphicFramePr>
        <p:xfrm>
          <a:off xmlns:a="http://schemas.openxmlformats.org/drawingml/2006/main" x="762000" y="1857375"/>
          <a:ext xmlns:a="http://schemas.openxmlformats.org/drawingml/2006/main" cx="10668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524750"/>
              </a:tblGrid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Responsibility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 of completion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Incident owner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Clear severity, affected journey and update cadence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Application owner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Change or dependency diagnosis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Infrastructure owner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Capacity, connectivity and platform assessment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Recovery verifier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Successful transactions after mitigation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F6B43C4-3794-4028-BED1-9003D4D5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90613034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795280FE-855A-4638-922D-1FBADAEE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Availability and recovery</a:t>
            </a:r>
          </a:p>
        </p:txBody>
      </p:sp>
      <p:sp>
        <p:nvSpPr>
          <p:cNvPr id="2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56FDA194-0C4C-44E2-B9DE-40FA1F8B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Availability design</a:t>
            </a:r>
          </a:p>
        </p:txBody>
      </p:sp>
      <p:sp>
        <p:nvSpPr>
          <p:cNvPr id="3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983CB985-F358-4648-A15A-32AA9F53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Recovery design</a:t>
            </a:r>
          </a:p>
        </p:txBody>
      </p:sp>
      <p:sp>
        <p:nvSpPr>
          <p:cNvPr id="4" name="left-copy">
            <a:extLst xmlns:a="http://schemas.openxmlformats.org/drawingml/2006/main">
              <a:ext uri="{FF2B5EF4-FFF2-40B4-BE49-F238E27FC236}">
                <a16:creationId xmlns:a16="http://schemas.microsoft.com/office/drawing/2014/main" id="{2E3D6E95-7FBA-47F0-846D-F42891C1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Independent failure domains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Healthy application replicas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Resilient data services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Dependency isolation</a:t>
            </a:r>
          </a:p>
        </p:txBody>
      </p:sp>
      <p:sp>
        <p:nvSpPr>
          <p:cNvPr id="5" name="right-copy">
            <a:extLst xmlns:a="http://schemas.openxmlformats.org/drawingml/2006/main">
              <a:ext uri="{FF2B5EF4-FFF2-40B4-BE49-F238E27FC236}">
                <a16:creationId xmlns:a16="http://schemas.microsoft.com/office/drawing/2014/main" id="{2141FB8D-DBC6-46D3-97E5-598D373F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Backups that can be restored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Agreed recovery time and data loss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 rehearsed restore procedure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Verified application correctness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041A0C1-6957-4247-A120-5C4F556B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672780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245251-E97F-45C2-BFE1-EAA5EB92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 first KAI reliability pilot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29709-242D-46FE-AAC2-6869D1EFF77E}"/>
              </a:ext>
            </a:extLst>
          </p:cNvPr>
          <p:cNvGraphicFramePr/>
          <p:nvPr/>
        </p:nvGraphicFramePr>
        <p:xfrm>
          <a:off xmlns:a="http://schemas.openxmlformats.org/drawingml/2006/main" x="762000" y="1857375"/>
          <a:ext xmlns:a="http://schemas.openxmlformats.org/drawingml/2006/main" cx="10668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524750"/>
              </a:tblGrid>
              <a:tr h="635000"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Team input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</a:tr>
              <a:tr h="635000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Application and journey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Choose one important, bounded service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635000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Owners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Name application, infrastructure and business owners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Measurement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Define the first indicator and provisional objective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635000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 change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Select one reversible modernization improvement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 exercise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Agree a failure, recovery check and review date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</a:tbl>
          </a:graphicData>
        </a:graphic>
      </p:graphicFrame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35EFA9C-1058-4625-B59E-76B3D025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1665601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21C289-3B85-4750-A8DD-13233757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The next 30 days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89A9A-2CC2-40D3-BF2A-7D450EB7E56E}"/>
              </a:ext>
            </a:extLst>
          </p:cNvPr>
          <p:cNvGraphicFramePr/>
          <p:nvPr/>
        </p:nvGraphicFramePr>
        <p:xfrm>
          <a:off xmlns:a="http://schemas.openxmlformats.org/drawingml/2006/main" x="762000" y="1857375"/>
          <a:ext xmlns:a="http://schemas.openxmlformats.org/drawingml/2006/main" cx="10668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524750"/>
              </a:tblGrid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Week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Deliverable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Journey baseline and dependency map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Instrumentation and a reversible change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Controlled failure and recovery exercise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Review evidence and choose the next improvement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20788184-3FF4-45B1-9BFC-ECF5491C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54962606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22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3228A2-1BC1-4491-8D30-903288D1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10572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Discussion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D78E7E9-0858-4130-9EC9-338F6CE3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D4DEE6"/>
                </a:solidFill>
                <a:latin typeface="DejaVu Sans"/>
                <a:ea typeface="DejaVu Sans"/>
                <a:cs typeface="DejaVu Sans"/>
              </a:rPr>
              <a:t>Which service would you choose for the first pilot?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33A268A-D5CA-4F3C-8947-94DEB654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6D1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3562777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A4C013D-FB12-4251-A037-12A492FC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Appendix: access model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2998C-7CC3-4887-87CC-C1E691BBE94D}"/>
              </a:ext>
            </a:extLst>
          </p:cNvPr>
          <p:cNvGraphicFramePr/>
          <p:nvPr/>
        </p:nvGraphicFramePr>
        <p:xfrm>
          <a:off xmlns:a="http://schemas.openxmlformats.org/drawingml/2006/main" x="762000" y="1857375"/>
          <a:ext xmlns:a="http://schemas.openxmlformats.org/drawingml/2006/main" cx="10668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524750"/>
              </a:tblGrid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Identity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Scope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T w="9525">
                      <a:solidFill>
                        <a:srgbClr val="D3DBDF"/>
                      </a:solidFill>
                      <a:prstDash val="solid"/>
                    </a:lnT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122B45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Bootstrap owner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Initial project, network, database and IAM setup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Application deployer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Images, application releases and approved runtime identity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Application runtime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Only the required secrets and data permissions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5F5F1"/>
                    </a:solidFill>
                  </a:tcPr>
                </a:tc>
              </a:tr>
              <a:tr h="714375"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Presenter / test runner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BDF"/>
                      </a:solidFill>
                      <a:prstDash val="solid"/>
                    </a:lnL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Invoke the lab and inspect approved telemetry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BDF"/>
                      </a:solidFill>
                      <a:prstDash val="solid"/>
                    </a:lnR>
                    <a:lnB w="9525">
                      <a:solidFill>
                        <a:srgbClr val="D3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9F5A71FE-8B6E-4223-9207-772544BF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Use short-lived cloud credentials and a dedicated VPS account. Keep secret values outside chat and source control.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D21A921-2339-44B2-88F5-EADE2720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89061549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90AA683-7FB6-43FC-A7B8-5614879D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Appendix: participant materials</a:t>
            </a:r>
          </a:p>
        </p:txBody>
      </p:sp>
      <p:sp>
        <p:nvSpPr>
          <p:cNvPr id="2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CF1C501C-58E1-4C7A-8B53-18174053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Application modernization</a:t>
            </a:r>
          </a:p>
        </p:txBody>
      </p:sp>
      <p:sp>
        <p:nvSpPr>
          <p:cNvPr id="3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C6FC0E7A-910F-496E-B6B2-FE5653B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D842C"/>
                </a:solidFill>
                <a:latin typeface="DejaVu Sans"/>
                <a:ea typeface="DejaVu Sans"/>
                <a:cs typeface="DejaVu Sans"/>
              </a:rPr>
              <a:t>SRE</a:t>
            </a:r>
          </a:p>
        </p:txBody>
      </p:sp>
      <p:sp>
        <p:nvSpPr>
          <p:cNvPr id="4" name="left-copy">
            <a:extLst xmlns:a="http://schemas.openxmlformats.org/drawingml/2006/main">
              <a:ext uri="{FF2B5EF4-FFF2-40B4-BE49-F238E27FC236}">
                <a16:creationId xmlns:a16="http://schemas.microsoft.com/office/drawing/2014/main" id="{26A7366D-2603-4803-B5F2-4C4CFAEB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Application assessment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Migration checkpoints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SIT and UAT checklist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Deployment and rollback runbooks</a:t>
            </a:r>
          </a:p>
        </p:txBody>
      </p:sp>
      <p:sp>
        <p:nvSpPr>
          <p:cNvPr id="5" name="right-copy">
            <a:extLst xmlns:a="http://schemas.openxmlformats.org/drawingml/2006/main">
              <a:ext uri="{FF2B5EF4-FFF2-40B4-BE49-F238E27FC236}">
                <a16:creationId xmlns:a16="http://schemas.microsoft.com/office/drawing/2014/main" id="{0FDD68F6-D825-4EF9-910E-1D489D33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SLI and SLO worksheet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Error budget policy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Incident and review templates</a:t>
            </a:r>
          </a:p>
          <a:p xmlns:a="http://schemas.openxmlformats.org/drawingml/2006/main">
            <a:pPr>
              <a:def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30-day pilot charter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E1162F4-5764-4F13-A617-6CADD000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836478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2026-10-26T00:38:06.1510000Z</dcterms:created>
  <dcterms:modified xsi:type="dcterms:W3CDTF">2026-10-26T00:38:06.1510000Z</dcterms:modified>
</coreProperties>
</file>